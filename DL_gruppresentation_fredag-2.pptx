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4" r:id="rId8"/>
    <p:sldId id="263" r:id="rId9"/>
    <p:sldId id="262" r:id="rId10"/>
    <p:sldId id="265" r:id="rId11"/>
    <p:sldId id="266" r:id="rId12"/>
  </p:sldIdLst>
  <p:sldSz cx="9144000" cy="5143500" type="screen16x9"/>
  <p:notesSz cx="51435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7" roundtripDataSignature="AMtx7mgawZRI9yrKRaZ2GpMOvmwk+Tadd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1EBDB7F-3AF7-23A9-7A86-3EE303EFA77C}" v="10" dt="2026-05-25T19:46:02.394"/>
  </p1510:revLst>
</p1510:revInfo>
</file>

<file path=ppt/tableStyles.xml><?xml version="1.0" encoding="utf-8"?>
<a:tblStyleLst xmlns:a="http://schemas.openxmlformats.org/drawingml/2006/main" def="{6AECF043-9CA0-47E7-8487-2F0AA6E083D4}">
  <a:tblStyle styleId="{6AECF043-9CA0-47E7-8487-2F0AA6E083D4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customschemas.google.com/relationships/presentationmetadata" Target="metadata"/><Relationship Id="rId2" Type="http://schemas.openxmlformats.org/officeDocument/2006/relationships/slide" Target="slides/slide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2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" name="Google Shape;13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" name="Google Shape;14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" name="Google Shape;25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6" name="Google Shape;26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3" name="Google Shape;43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4" name="Google Shape;44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e42747a33a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6" name="Google Shape;66;g3e42747a33a_0_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" name="Google Shape;67;g3e42747a33a_0_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7" name="Google Shape;77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78" name="Google Shape;78;p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4" name="Google Shape;84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5" name="Google Shape;85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e386580c25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5" name="Google Shape;125;g3e386580c25_0_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6" name="Google Shape;126;g3e386580c25_0_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2" name="Google Shape;102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3" name="Google Shape;103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2" name="Google Shape;92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3" name="Google Shape;93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4" name="Google Shape;134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5" name="Google Shape;135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6" name="Google Shape;156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7" name="Google Shape;157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5A82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6858000" y="-1097280"/>
            <a:ext cx="3657600" cy="3657600"/>
          </a:xfrm>
          <a:prstGeom prst="ellipse">
            <a:avLst/>
          </a:prstGeom>
          <a:solidFill>
            <a:srgbClr val="1C7293">
              <a:alpha val="30196"/>
            </a:srgbClr>
          </a:solidFill>
          <a:ln w="12700" cap="flat" cmpd="sng">
            <a:solidFill>
              <a:srgbClr val="1C7293">
                <a:alpha val="30196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1"/>
          <p:cNvSpPr/>
          <p:nvPr/>
        </p:nvSpPr>
        <p:spPr>
          <a:xfrm>
            <a:off x="7498080" y="-457200"/>
            <a:ext cx="2286000" cy="2286000"/>
          </a:xfrm>
          <a:prstGeom prst="ellipse">
            <a:avLst/>
          </a:prstGeom>
          <a:solidFill>
            <a:srgbClr val="00B4D8">
              <a:alpha val="20000"/>
            </a:srgbClr>
          </a:solidFill>
          <a:ln w="12700" cap="flat" cmpd="sng">
            <a:solidFill>
              <a:srgbClr val="00B4D8">
                <a:alpha val="2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548640" y="822960"/>
            <a:ext cx="73152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Calibri"/>
              <a:buNone/>
            </a:pPr>
            <a:r>
              <a:rPr lang="en-US" sz="4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Optimering &amp;</a:t>
            </a:r>
            <a:endParaRPr sz="4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548640" y="1691640"/>
            <a:ext cx="73152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4800"/>
              <a:buFont typeface="Calibri"/>
              <a:buNone/>
            </a:pPr>
            <a:r>
              <a:rPr lang="en-US" sz="4800" b="1" i="0" u="none" strike="noStrike" cap="non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Learning Rate</a:t>
            </a:r>
            <a:endParaRPr sz="4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548640" y="2697480"/>
            <a:ext cx="7772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DBFCD"/>
              </a:buClr>
              <a:buSzPts val="1600"/>
              <a:buFont typeface="Calibri"/>
              <a:buNone/>
            </a:pPr>
            <a:r>
              <a:rPr lang="en-US" sz="1600" b="0" i="1" u="none" strike="noStrike" cap="none">
                <a:solidFill>
                  <a:srgbClr val="9DBFCD"/>
                </a:solidFill>
                <a:latin typeface="Calibri"/>
                <a:ea typeface="Calibri"/>
                <a:cs typeface="Calibri"/>
                <a:sym typeface="Calibri"/>
              </a:rPr>
              <a:t>Fashion MNIST – Bildklassificering av klädesplagg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548640" y="3291840"/>
            <a:ext cx="3200400" cy="36576"/>
          </a:xfrm>
          <a:prstGeom prst="rect">
            <a:avLst/>
          </a:prstGeom>
          <a:solidFill>
            <a:srgbClr val="00B4D8"/>
          </a:solidFill>
          <a:ln w="12700" cap="flat" cmpd="sng">
            <a:solidFill>
              <a:srgbClr val="00B4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548640" y="347472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DBFCD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9DBFCD"/>
                </a:solidFill>
                <a:latin typeface="Calibri"/>
                <a:ea typeface="Calibri"/>
                <a:cs typeface="Calibri"/>
                <a:sym typeface="Calibri"/>
              </a:rPr>
              <a:t>Deep Learning – Grupparbete 2026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6FA"/>
        </a:solidFill>
        <a:effectLst/>
      </p:bgPr>
    </p:bg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3200"/>
              <a:buFont typeface="Calibri"/>
              <a:buNone/>
            </a:pPr>
            <a:r>
              <a:rPr lang="en-US" sz="3200" b="1" i="0" u="none" strike="noStrike" cap="non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Översikt på caset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2"/>
          <p:cNvSpPr/>
          <p:nvPr/>
        </p:nvSpPr>
        <p:spPr>
          <a:xfrm>
            <a:off x="365760" y="1143000"/>
            <a:ext cx="2651760" cy="3291840"/>
          </a:xfrm>
          <a:prstGeom prst="rect">
            <a:avLst/>
          </a:prstGeom>
          <a:solidFill>
            <a:srgbClr val="065A82"/>
          </a:solidFill>
          <a:ln w="12700" cap="flat" cmpd="sng">
            <a:solidFill>
              <a:srgbClr val="065A82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0;p2"/>
          <p:cNvSpPr/>
          <p:nvPr/>
        </p:nvSpPr>
        <p:spPr>
          <a:xfrm>
            <a:off x="365760" y="1143000"/>
            <a:ext cx="2651760" cy="109728"/>
          </a:xfrm>
          <a:prstGeom prst="rect">
            <a:avLst/>
          </a:prstGeom>
          <a:solidFill>
            <a:srgbClr val="00B4D8"/>
          </a:solidFill>
          <a:ln w="12700" cap="flat" cmpd="sng">
            <a:solidFill>
              <a:srgbClr val="00B4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2"/>
          <p:cNvSpPr/>
          <p:nvPr/>
        </p:nvSpPr>
        <p:spPr>
          <a:xfrm>
            <a:off x="502920" y="1325880"/>
            <a:ext cx="23774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Problemet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2"/>
          <p:cNvSpPr/>
          <p:nvPr/>
        </p:nvSpPr>
        <p:spPr>
          <a:xfrm>
            <a:off x="502920" y="1874520"/>
            <a:ext cx="2377440" cy="2377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6EAF2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D6EAF2"/>
                </a:solidFill>
                <a:latin typeface="Calibri"/>
                <a:ea typeface="Calibri"/>
                <a:cs typeface="Calibri"/>
                <a:sym typeface="Calibri"/>
              </a:rPr>
              <a:t>Klassificera klädesplagg från bilder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6EAF2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D6EAF2"/>
                </a:solidFill>
                <a:latin typeface="Calibri"/>
                <a:ea typeface="Calibri"/>
                <a:cs typeface="Calibri"/>
                <a:sym typeface="Calibri"/>
              </a:rPr>
              <a:t>→ 10 kategorier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6EAF2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D6EAF2"/>
                </a:solidFill>
                <a:latin typeface="Calibri"/>
                <a:ea typeface="Calibri"/>
                <a:cs typeface="Calibri"/>
                <a:sym typeface="Calibri"/>
              </a:rPr>
              <a:t>(t-shirt, byxor, skor...)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2"/>
          <p:cNvSpPr/>
          <p:nvPr/>
        </p:nvSpPr>
        <p:spPr>
          <a:xfrm>
            <a:off x="3246120" y="1143000"/>
            <a:ext cx="2651760" cy="3291840"/>
          </a:xfrm>
          <a:prstGeom prst="rect">
            <a:avLst/>
          </a:prstGeom>
          <a:solidFill>
            <a:srgbClr val="065A82"/>
          </a:solidFill>
          <a:ln w="12700" cap="flat" cmpd="sng">
            <a:solidFill>
              <a:srgbClr val="065A82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34;p2"/>
          <p:cNvSpPr/>
          <p:nvPr/>
        </p:nvSpPr>
        <p:spPr>
          <a:xfrm>
            <a:off x="3246120" y="1143000"/>
            <a:ext cx="2651760" cy="109728"/>
          </a:xfrm>
          <a:prstGeom prst="rect">
            <a:avLst/>
          </a:prstGeom>
          <a:solidFill>
            <a:srgbClr val="00B4D8"/>
          </a:solidFill>
          <a:ln w="12700" cap="flat" cmpd="sng">
            <a:solidFill>
              <a:srgbClr val="00B4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35;p2"/>
          <p:cNvSpPr/>
          <p:nvPr/>
        </p:nvSpPr>
        <p:spPr>
          <a:xfrm>
            <a:off x="3383280" y="1325880"/>
            <a:ext cx="23774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Datan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2"/>
          <p:cNvSpPr/>
          <p:nvPr/>
        </p:nvSpPr>
        <p:spPr>
          <a:xfrm>
            <a:off x="3383280" y="1874520"/>
            <a:ext cx="2377440" cy="2377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6EAF2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D6EAF2"/>
                </a:solidFill>
                <a:latin typeface="Calibri"/>
                <a:ea typeface="Calibri"/>
                <a:cs typeface="Calibri"/>
                <a:sym typeface="Calibri"/>
              </a:rPr>
              <a:t>Fashion MNIST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6EAF2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D6EAF2"/>
                </a:solidFill>
                <a:latin typeface="Calibri"/>
                <a:ea typeface="Calibri"/>
                <a:cs typeface="Calibri"/>
                <a:sym typeface="Calibri"/>
              </a:rPr>
              <a:t>70 000 bilder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6EAF2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D6EAF2"/>
                </a:solidFill>
                <a:latin typeface="Calibri"/>
                <a:ea typeface="Calibri"/>
                <a:cs typeface="Calibri"/>
                <a:sym typeface="Calibri"/>
              </a:rPr>
              <a:t>28×28 px, gråskala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6EAF2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D6EAF2"/>
                </a:solidFill>
                <a:latin typeface="Calibri"/>
                <a:ea typeface="Calibri"/>
                <a:cs typeface="Calibri"/>
                <a:sym typeface="Calibri"/>
              </a:rPr>
              <a:t>60k träning / 10k test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2"/>
          <p:cNvSpPr/>
          <p:nvPr/>
        </p:nvSpPr>
        <p:spPr>
          <a:xfrm>
            <a:off x="6126480" y="1143000"/>
            <a:ext cx="2651760" cy="3291840"/>
          </a:xfrm>
          <a:prstGeom prst="rect">
            <a:avLst/>
          </a:prstGeom>
          <a:solidFill>
            <a:srgbClr val="065A82"/>
          </a:solidFill>
          <a:ln w="12700" cap="flat" cmpd="sng">
            <a:solidFill>
              <a:srgbClr val="065A82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6126480" y="1143000"/>
            <a:ext cx="2651760" cy="109728"/>
          </a:xfrm>
          <a:prstGeom prst="rect">
            <a:avLst/>
          </a:prstGeom>
          <a:solidFill>
            <a:srgbClr val="00B4D8"/>
          </a:solidFill>
          <a:ln w="12700" cap="flat" cmpd="sng">
            <a:solidFill>
              <a:srgbClr val="00B4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6263640" y="1325880"/>
            <a:ext cx="23774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Vårt fokus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6263640" y="1874520"/>
            <a:ext cx="2377440" cy="2377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6EAF2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D6EAF2"/>
                </a:solidFill>
                <a:latin typeface="Calibri"/>
                <a:ea typeface="Calibri"/>
                <a:cs typeface="Calibri"/>
                <a:sym typeface="Calibri"/>
              </a:rPr>
              <a:t>Optimering &amp; Learning Rate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6EAF2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D6EAF2"/>
                </a:solidFill>
                <a:latin typeface="Calibri"/>
                <a:ea typeface="Calibri"/>
                <a:cs typeface="Calibri"/>
                <a:sym typeface="Calibri"/>
              </a:rPr>
              <a:t>Hur träningsprocessen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6EAF2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D6EAF2"/>
                </a:solidFill>
                <a:latin typeface="Calibri"/>
                <a:ea typeface="Calibri"/>
                <a:cs typeface="Calibri"/>
                <a:sym typeface="Calibri"/>
              </a:rPr>
              <a:t>påverkar resultatet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5A82"/>
        </a:solidFill>
        <a:effectLst/>
      </p:bgPr>
    </p:bg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3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libri"/>
              <a:buNone/>
            </a:pPr>
            <a:r>
              <a:rPr lang="en-US" sz="3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Vad är en optimiser?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3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DBFCD"/>
              </a:buClr>
              <a:buSzPts val="1400"/>
              <a:buFont typeface="Calibri"/>
              <a:buNone/>
            </a:pPr>
            <a:r>
              <a:rPr lang="en-US" sz="1400" b="0" i="1" u="none" strike="noStrike" cap="none">
                <a:solidFill>
                  <a:srgbClr val="9DBFCD"/>
                </a:solidFill>
                <a:latin typeface="Calibri"/>
                <a:ea typeface="Calibri"/>
                <a:cs typeface="Calibri"/>
                <a:sym typeface="Calibri"/>
              </a:rPr>
              <a:t>Styr hur modellen uppdaterar sina vikter under träning för att minimera loss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3"/>
          <p:cNvSpPr/>
          <p:nvPr/>
        </p:nvSpPr>
        <p:spPr>
          <a:xfrm>
            <a:off x="320040" y="1417320"/>
            <a:ext cx="1965960" cy="3246120"/>
          </a:xfrm>
          <a:prstGeom prst="rect">
            <a:avLst/>
          </a:prstGeom>
          <a:solidFill>
            <a:srgbClr val="0A4A6B"/>
          </a:solidFill>
          <a:ln w="12700" cap="flat" cmpd="sng">
            <a:solidFill>
              <a:srgbClr val="1C729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49;p3"/>
          <p:cNvSpPr/>
          <p:nvPr/>
        </p:nvSpPr>
        <p:spPr>
          <a:xfrm>
            <a:off x="320040" y="1417320"/>
            <a:ext cx="1965960" cy="91440"/>
          </a:xfrm>
          <a:prstGeom prst="rect">
            <a:avLst/>
          </a:prstGeom>
          <a:solidFill>
            <a:srgbClr val="00B4D8"/>
          </a:solidFill>
          <a:ln w="12700" cap="flat" cmpd="sng">
            <a:solidFill>
              <a:srgbClr val="00B4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Google Shape;50;p3"/>
          <p:cNvSpPr/>
          <p:nvPr/>
        </p:nvSpPr>
        <p:spPr>
          <a:xfrm>
            <a:off x="411480" y="1572768"/>
            <a:ext cx="178308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500"/>
              <a:buFont typeface="Calibri"/>
              <a:buNone/>
            </a:pPr>
            <a:r>
              <a:rPr lang="en-US" sz="1500" b="1" i="0" u="none" strike="noStrike" cap="non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SGD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3"/>
          <p:cNvSpPr/>
          <p:nvPr/>
        </p:nvSpPr>
        <p:spPr>
          <a:xfrm>
            <a:off x="411480" y="2240280"/>
            <a:ext cx="1783080" cy="22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6EAF2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D6EAF2"/>
                </a:solidFill>
                <a:latin typeface="Calibri"/>
                <a:ea typeface="Calibri"/>
                <a:cs typeface="Calibri"/>
                <a:sym typeface="Calibri"/>
              </a:rPr>
              <a:t>Tar lika stora steg varje gång. Enkelt men långsamt.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3"/>
          <p:cNvSpPr/>
          <p:nvPr/>
        </p:nvSpPr>
        <p:spPr>
          <a:xfrm>
            <a:off x="2468880" y="1417320"/>
            <a:ext cx="1965960" cy="3246120"/>
          </a:xfrm>
          <a:prstGeom prst="rect">
            <a:avLst/>
          </a:prstGeom>
          <a:solidFill>
            <a:srgbClr val="0A4A6B"/>
          </a:solidFill>
          <a:ln w="12700" cap="flat" cmpd="sng">
            <a:solidFill>
              <a:srgbClr val="1C729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3"/>
          <p:cNvSpPr/>
          <p:nvPr/>
        </p:nvSpPr>
        <p:spPr>
          <a:xfrm>
            <a:off x="2468880" y="1417320"/>
            <a:ext cx="1965960" cy="91440"/>
          </a:xfrm>
          <a:prstGeom prst="rect">
            <a:avLst/>
          </a:prstGeom>
          <a:solidFill>
            <a:srgbClr val="00B4D8"/>
          </a:solidFill>
          <a:ln w="12700" cap="flat" cmpd="sng">
            <a:solidFill>
              <a:srgbClr val="00B4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3"/>
          <p:cNvSpPr/>
          <p:nvPr/>
        </p:nvSpPr>
        <p:spPr>
          <a:xfrm>
            <a:off x="2560320" y="1572768"/>
            <a:ext cx="178308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500"/>
              <a:buFont typeface="Calibri"/>
              <a:buNone/>
            </a:pPr>
            <a:r>
              <a:rPr lang="en-US" sz="1500" b="1" i="0" u="none" strike="noStrike" cap="non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SGD +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500"/>
              <a:buFont typeface="Calibri"/>
              <a:buNone/>
            </a:pPr>
            <a:r>
              <a:rPr lang="en-US" sz="1500" b="1" i="0" u="none" strike="noStrike" cap="non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Momentum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3"/>
          <p:cNvSpPr/>
          <p:nvPr/>
        </p:nvSpPr>
        <p:spPr>
          <a:xfrm>
            <a:off x="2560320" y="2240280"/>
            <a:ext cx="1783080" cy="22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6EAF2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D6EAF2"/>
                </a:solidFill>
                <a:latin typeface="Calibri"/>
                <a:ea typeface="Calibri"/>
                <a:cs typeface="Calibri"/>
                <a:sym typeface="Calibri"/>
              </a:rPr>
              <a:t>Minns tidigare gradienter och accelererar i rätt riktning. Som en boll som rullar nerför en backe.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3"/>
          <p:cNvSpPr/>
          <p:nvPr/>
        </p:nvSpPr>
        <p:spPr>
          <a:xfrm>
            <a:off x="4617720" y="1417320"/>
            <a:ext cx="1965960" cy="3246120"/>
          </a:xfrm>
          <a:prstGeom prst="rect">
            <a:avLst/>
          </a:prstGeom>
          <a:solidFill>
            <a:srgbClr val="0A4A6B"/>
          </a:solidFill>
          <a:ln w="12700" cap="flat" cmpd="sng">
            <a:solidFill>
              <a:srgbClr val="1C729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3"/>
          <p:cNvSpPr/>
          <p:nvPr/>
        </p:nvSpPr>
        <p:spPr>
          <a:xfrm>
            <a:off x="4617720" y="1417320"/>
            <a:ext cx="1965960" cy="91440"/>
          </a:xfrm>
          <a:prstGeom prst="rect">
            <a:avLst/>
          </a:prstGeom>
          <a:solidFill>
            <a:srgbClr val="00B4D8"/>
          </a:solidFill>
          <a:ln w="12700" cap="flat" cmpd="sng">
            <a:solidFill>
              <a:srgbClr val="00B4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3"/>
          <p:cNvSpPr/>
          <p:nvPr/>
        </p:nvSpPr>
        <p:spPr>
          <a:xfrm>
            <a:off x="4709160" y="1572768"/>
            <a:ext cx="178308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500"/>
              <a:buFont typeface="Calibri"/>
              <a:buNone/>
            </a:pPr>
            <a:r>
              <a:rPr lang="en-US" sz="1500" b="1" i="0" u="none" strike="noStrike" cap="non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Adam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3"/>
          <p:cNvSpPr/>
          <p:nvPr/>
        </p:nvSpPr>
        <p:spPr>
          <a:xfrm>
            <a:off x="4709160" y="2240280"/>
            <a:ext cx="1783080" cy="22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6EAF2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D6EAF2"/>
                </a:solidFill>
                <a:latin typeface="Calibri"/>
                <a:ea typeface="Calibri"/>
                <a:cs typeface="Calibri"/>
                <a:sym typeface="Calibri"/>
              </a:rPr>
              <a:t>Kombinerar momentum med adaptiva learning rates per parameter. Kommer igång snabbt.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3"/>
          <p:cNvSpPr/>
          <p:nvPr/>
        </p:nvSpPr>
        <p:spPr>
          <a:xfrm>
            <a:off x="6766560" y="1417320"/>
            <a:ext cx="1965960" cy="3246120"/>
          </a:xfrm>
          <a:prstGeom prst="rect">
            <a:avLst/>
          </a:prstGeom>
          <a:solidFill>
            <a:srgbClr val="0A4A6B"/>
          </a:solidFill>
          <a:ln w="12700" cap="flat" cmpd="sng">
            <a:solidFill>
              <a:srgbClr val="1C729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3"/>
          <p:cNvSpPr/>
          <p:nvPr/>
        </p:nvSpPr>
        <p:spPr>
          <a:xfrm>
            <a:off x="6766560" y="1417320"/>
            <a:ext cx="1965960" cy="91440"/>
          </a:xfrm>
          <a:prstGeom prst="rect">
            <a:avLst/>
          </a:prstGeom>
          <a:solidFill>
            <a:srgbClr val="00B4D8"/>
          </a:solidFill>
          <a:ln w="12700" cap="flat" cmpd="sng">
            <a:solidFill>
              <a:srgbClr val="00B4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p3"/>
          <p:cNvSpPr/>
          <p:nvPr/>
        </p:nvSpPr>
        <p:spPr>
          <a:xfrm>
            <a:off x="6858000" y="1572768"/>
            <a:ext cx="178308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500"/>
              <a:buFont typeface="Calibri"/>
              <a:buNone/>
            </a:pPr>
            <a:r>
              <a:rPr lang="en-US" sz="1500" b="1" i="0" u="none" strike="noStrike" cap="non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AdamW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3"/>
          <p:cNvSpPr/>
          <p:nvPr/>
        </p:nvSpPr>
        <p:spPr>
          <a:xfrm>
            <a:off x="6858000" y="2240280"/>
            <a:ext cx="1783080" cy="22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6EAF2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D6EAF2"/>
                </a:solidFill>
                <a:latin typeface="Calibri"/>
                <a:ea typeface="Calibri"/>
                <a:cs typeface="Calibri"/>
                <a:sym typeface="Calibri"/>
              </a:rPr>
              <a:t>Fixar en bugg i Adams weight decay. Separerar regularisering från gradientuppdateringen korrekt.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6FA"/>
        </a:solidFill>
        <a:effectLst/>
      </p:bgPr>
    </p:bg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e42747a33a_0_10"/>
          <p:cNvSpPr/>
          <p:nvPr/>
        </p:nvSpPr>
        <p:spPr>
          <a:xfrm>
            <a:off x="457200" y="274320"/>
            <a:ext cx="8229600" cy="59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3200"/>
              <a:buFont typeface="Calibri"/>
              <a:buNone/>
            </a:pPr>
            <a:r>
              <a:rPr lang="en-US" sz="3200" b="1" i="0" u="none" strike="noStrike" cap="non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Vad är Learning Rate?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g3e42747a33a_0_10"/>
          <p:cNvSpPr/>
          <p:nvPr/>
        </p:nvSpPr>
        <p:spPr>
          <a:xfrm>
            <a:off x="457200" y="1051560"/>
            <a:ext cx="8229600" cy="73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500"/>
              <a:buFont typeface="Calibri"/>
              <a:buNone/>
            </a:pPr>
            <a:r>
              <a:rPr lang="en-US" sz="1500" b="0" i="0" u="none" strike="noStrike" cap="non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En hyperparameter som styr hur stora steg modellen tar när den uppdaterar sina vikter under träning. Den påverkar både hastighet och stabilitet i inlärningen.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g3e42747a33a_0_10"/>
          <p:cNvSpPr/>
          <p:nvPr/>
        </p:nvSpPr>
        <p:spPr>
          <a:xfrm>
            <a:off x="457200" y="1920240"/>
            <a:ext cx="82296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Grundprincipen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g3e42747a33a_0_10"/>
          <p:cNvSpPr/>
          <p:nvPr/>
        </p:nvSpPr>
        <p:spPr>
          <a:xfrm>
            <a:off x="457200" y="2423160"/>
            <a:ext cx="8229600" cy="685800"/>
          </a:xfrm>
          <a:prstGeom prst="rect">
            <a:avLst/>
          </a:prstGeom>
          <a:solidFill>
            <a:srgbClr val="065A82"/>
          </a:solidFill>
          <a:ln w="12700" cap="flat" cmpd="sng">
            <a:solidFill>
              <a:srgbClr val="065A8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" name="Google Shape;73;g3e42747a33a_0_10"/>
          <p:cNvSpPr/>
          <p:nvPr/>
        </p:nvSpPr>
        <p:spPr>
          <a:xfrm>
            <a:off x="457200" y="2450592"/>
            <a:ext cx="8229600" cy="62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600"/>
              <a:buFont typeface="Consolas"/>
              <a:buNone/>
            </a:pPr>
            <a:r>
              <a:rPr lang="en-US" sz="1600" b="1" i="0" u="none" strike="noStrike" cap="none">
                <a:solidFill>
                  <a:srgbClr val="00B4D8"/>
                </a:solidFill>
                <a:latin typeface="Consolas"/>
                <a:ea typeface="Consolas"/>
                <a:cs typeface="Consolas"/>
                <a:sym typeface="Consolas"/>
              </a:rPr>
              <a:t>Ny vikt  =  Gammal vikt  −  (Learning Rate  ×  Gradient)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g3e42747a33a_0_10"/>
          <p:cNvSpPr/>
          <p:nvPr/>
        </p:nvSpPr>
        <p:spPr>
          <a:xfrm>
            <a:off x="457200" y="3246120"/>
            <a:ext cx="82296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buClr>
                <a:srgbClr val="1C7293"/>
              </a:buClr>
              <a:buSzPts val="1400"/>
            </a:pPr>
            <a:r>
              <a:rPr lang="en-US" sz="1400" b="0" i="1" u="none" strike="noStrike" cap="none" dirty="0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Formeln </a:t>
            </a:r>
            <a:r>
              <a:rPr lang="en-US" sz="1400" b="0" i="1" u="none" strike="noStrike" cap="none" dirty="0" err="1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gäller</a:t>
            </a:r>
            <a:r>
              <a:rPr lang="en-US" sz="1400" b="0" i="1" u="none" strike="noStrike" cap="none" dirty="0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 för alla </a:t>
            </a:r>
            <a:r>
              <a:rPr lang="en-US" sz="1400" b="0" i="1" u="none" strike="noStrike" cap="none" dirty="0" err="1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optimerare</a:t>
            </a:r>
            <a:r>
              <a:rPr lang="en-US" i="1" dirty="0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, </a:t>
            </a:r>
            <a:r>
              <a:rPr lang="en-US" sz="1400" b="0" i="1" u="none" strike="noStrike" cap="none" dirty="0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det </a:t>
            </a:r>
            <a:r>
              <a:rPr lang="en-US" sz="1400" b="0" i="1" u="none" strike="noStrike" cap="none" dirty="0" err="1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är</a:t>
            </a:r>
            <a:r>
              <a:rPr lang="en-US" sz="1400" b="0" i="1" u="none" strike="noStrike" cap="none" dirty="0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400" b="0" i="1" u="none" strike="noStrike" cap="none" dirty="0" err="1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kärnan</a:t>
            </a:r>
            <a:r>
              <a:rPr lang="en-US" sz="1400" b="0" i="1" u="none" strike="noStrike" cap="none" dirty="0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400" b="0" i="1" u="none" strike="noStrike" cap="none" dirty="0" err="1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lang="en-US" sz="1400" b="0" i="1" u="none" strike="noStrike" cap="none" dirty="0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 gradient descent.</a:t>
            </a:r>
            <a:endParaRPr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2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Learning rate </a:t>
            </a:r>
            <a:r>
              <a:rPr lang="en-US" sz="32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beter</a:t>
            </a:r>
            <a:r>
              <a:rPr lang="en-US" sz="32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sig </a:t>
            </a:r>
            <a:r>
              <a:rPr lang="en-US" sz="32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olika</a:t>
            </a:r>
            <a:r>
              <a:rPr lang="en-US" sz="32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2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beroende</a:t>
            </a:r>
            <a:r>
              <a:rPr lang="en-US" sz="32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2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på</a:t>
            </a:r>
            <a:r>
              <a:rPr lang="en-US" sz="32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200" dirty="0" err="1"/>
              <a:t>optimiser</a:t>
            </a:r>
            <a:endParaRPr sz="3200" b="0" i="0" u="none" strike="noStrike" cap="none" dirty="0" err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81" name="Google Shape;81;p12"/>
          <p:cNvGraphicFramePr/>
          <p:nvPr/>
        </p:nvGraphicFramePr>
        <p:xfrm>
          <a:off x="1022350" y="1146016"/>
          <a:ext cx="6711975" cy="3584725"/>
        </p:xfrm>
        <a:graphic>
          <a:graphicData uri="http://schemas.openxmlformats.org/drawingml/2006/table">
            <a:tbl>
              <a:tblPr>
                <a:noFill/>
                <a:tableStyleId>{6AECF043-9CA0-47E7-8487-2F0AA6E083D4}</a:tableStyleId>
              </a:tblPr>
              <a:tblGrid>
                <a:gridCol w="1727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98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862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197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Optimi</a:t>
                      </a:r>
                      <a:r>
                        <a:rPr lang="en-US" sz="12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</a:t>
                      </a:r>
                      <a:r>
                        <a:rPr lang="en-US" sz="12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er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1C729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1C729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1C729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1C729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1" i="0" u="none" strike="noStrike" cap="non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LR-beteende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1C729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1C729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1C729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1C729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1" i="0" u="none" strike="noStrike" cap="non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LR-effekt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1C729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1C729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1C729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1C729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C72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56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6EAF2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200" u="none" strike="noStrike" cap="none">
                          <a:solidFill>
                            <a:srgbClr val="D6EAF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SGD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1C729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1C729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1C729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1C729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A4A6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4D8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D6EAF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Konstant LR för alla parametrar</a:t>
                      </a:r>
                      <a:endParaRPr sz="1200" b="0" i="0" u="none" strike="noStrike" cap="none">
                        <a:solidFill>
                          <a:srgbClr val="D6EAF2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4D8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200">
                          <a:solidFill>
                            <a:srgbClr val="D6EAF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LR multipliceras direkt med gradienten</a:t>
                      </a:r>
                      <a:endParaRPr sz="1200">
                        <a:solidFill>
                          <a:srgbClr val="D6EAF2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1C729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1C729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1C729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1C729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A4A6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4D8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D6EAF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LR styr direkt stegstorleken</a:t>
                      </a:r>
                      <a:endParaRPr sz="1200" b="0" i="0" u="none" strike="noStrike" cap="none">
                        <a:solidFill>
                          <a:srgbClr val="D6EAF2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1C729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1C729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1C729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1C729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A4A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62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6EAF2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200" u="none" strike="noStrike" cap="none">
                          <a:solidFill>
                            <a:srgbClr val="D6EAF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SGD + Momentum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1C729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1C729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1C729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1C729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D6EAF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Konstant LR för alla parametrar + momentum</a:t>
                      </a:r>
                      <a:endParaRPr sz="1200" b="0" i="0" u="none" strike="noStrike" cap="none">
                        <a:solidFill>
                          <a:srgbClr val="D6EAF2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1C729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1C729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1C729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1C729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D6EAF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LR påverkar </a:t>
                      </a:r>
                      <a:r>
                        <a:rPr lang="en-US" sz="1200">
                          <a:solidFill>
                            <a:srgbClr val="D6EAF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hur känslig farten är för nya gradienter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1C729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1C729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1C729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1C729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65A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56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6EAF2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D6EAF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Adam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1C729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1C729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1C729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1C729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A4A6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4D8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D6EAF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Adaptiv LR per parameter</a:t>
                      </a:r>
                      <a:endParaRPr sz="1200" b="0" i="0" u="none" strike="noStrike" cap="none">
                        <a:solidFill>
                          <a:srgbClr val="D6EAF2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4D8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200">
                          <a:solidFill>
                            <a:srgbClr val="D6EAF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LR multipliceras med det anpassade värdet</a:t>
                      </a:r>
                      <a:endParaRPr sz="1200">
                        <a:solidFill>
                          <a:srgbClr val="D6EAF2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1C729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1C729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1C729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1C729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A4A6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4D8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D6EAF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LR skalas adaptivt per parameter</a:t>
                      </a:r>
                      <a:endParaRPr sz="1200" b="0" i="0" u="none" strike="noStrike" cap="none">
                        <a:solidFill>
                          <a:srgbClr val="D6EAF2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1C729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1C729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1C729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1C729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A4A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56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6EAF2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200" u="none" strike="noStrike" cap="none">
                          <a:solidFill>
                            <a:srgbClr val="D6EAF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AdamW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1C729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1C729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1C729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1C729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6EAF2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D6EAF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Adaptiv LR + separat weight decay</a:t>
                      </a:r>
                      <a:endParaRPr sz="1200" b="0" i="0" u="none" strike="noStrike" cap="none">
                        <a:solidFill>
                          <a:srgbClr val="D6EAF2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1C729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1C729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1C729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1C729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6EAF2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D6EAF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Adaptiv LR + separat regularisering</a:t>
                      </a:r>
                      <a:endParaRPr sz="1200" b="0" i="0" u="none" strike="noStrike" cap="none">
                        <a:solidFill>
                          <a:srgbClr val="D6EAF2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1C729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1C729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1C729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1C729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65A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5A82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5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libri"/>
              <a:buNone/>
            </a:pPr>
            <a:r>
              <a:rPr lang="en-US" sz="3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Resultat – alla optimisers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5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DBFCD"/>
              </a:buClr>
              <a:buSzPts val="1300"/>
              <a:buFont typeface="Calibri"/>
              <a:buNone/>
            </a:pPr>
            <a:r>
              <a:rPr lang="en-US" sz="1300" b="0" i="1" u="none" strike="noStrike" cap="none" dirty="0">
                <a:solidFill>
                  <a:srgbClr val="9DBFCD"/>
                </a:solidFill>
                <a:latin typeface="Calibri"/>
                <a:ea typeface="Calibri"/>
                <a:cs typeface="Calibri"/>
                <a:sym typeface="Calibri"/>
              </a:rPr>
              <a:t>Samma </a:t>
            </a:r>
            <a:r>
              <a:rPr lang="en-US" sz="1300" b="0" i="1" u="none" strike="noStrike" cap="none" dirty="0" err="1">
                <a:solidFill>
                  <a:srgbClr val="9DBFCD"/>
                </a:solidFill>
                <a:latin typeface="Calibri"/>
                <a:ea typeface="Calibri"/>
                <a:cs typeface="Calibri"/>
                <a:sym typeface="Calibri"/>
              </a:rPr>
              <a:t>modellarkitektur</a:t>
            </a:r>
            <a:r>
              <a:rPr lang="en-US" sz="1300" b="0" i="1" u="none" strike="noStrike" cap="none" dirty="0">
                <a:solidFill>
                  <a:srgbClr val="9DBFCD"/>
                </a:solidFill>
                <a:latin typeface="Calibri"/>
                <a:ea typeface="Calibri"/>
                <a:cs typeface="Calibri"/>
                <a:sym typeface="Calibri"/>
              </a:rPr>
              <a:t> · 10 epochs · batch size 32 · learning rate per </a:t>
            </a:r>
            <a:r>
              <a:rPr lang="en-US" sz="1300" i="1" dirty="0" err="1">
                <a:solidFill>
                  <a:srgbClr val="9DBFCD"/>
                </a:solidFill>
                <a:latin typeface="Calibri"/>
                <a:ea typeface="Calibri"/>
                <a:cs typeface="Calibri"/>
                <a:sym typeface="Calibri"/>
              </a:rPr>
              <a:t>optimiser</a:t>
            </a:r>
            <a:endParaRPr sz="1300" b="0" i="0" u="none" strike="noStrike" cap="none" dirty="0" err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89" name="Google Shape;89;p5"/>
          <p:cNvGraphicFramePr/>
          <p:nvPr/>
        </p:nvGraphicFramePr>
        <p:xfrm>
          <a:off x="1097280" y="1325880"/>
          <a:ext cx="6949400" cy="3182100"/>
        </p:xfrm>
        <a:graphic>
          <a:graphicData uri="http://schemas.openxmlformats.org/drawingml/2006/table">
            <a:tbl>
              <a:tblPr>
                <a:noFill/>
                <a:tableStyleId>{6AECF043-9CA0-47E7-8487-2F0AA6E083D4}</a:tableStyleId>
              </a:tblPr>
              <a:tblGrid>
                <a:gridCol w="1737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7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73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373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303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Optimizer</a:t>
                      </a:r>
                      <a:endParaRPr sz="1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1C729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1C729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1C729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1C729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Learning Rate</a:t>
                      </a:r>
                      <a:endParaRPr sz="1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1C729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1C729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1C729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1C729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Weight Decay</a:t>
                      </a:r>
                      <a:endParaRPr sz="1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1C729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1C729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1C729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1C729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Test Accuracy</a:t>
                      </a:r>
                      <a:endParaRPr sz="1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1C729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1C729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1C729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1C729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C72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3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4D8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b="1" u="none" strike="noStrike" cap="none">
                          <a:solidFill>
                            <a:srgbClr val="00B4D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Adam</a:t>
                      </a:r>
                      <a:endParaRPr sz="1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1C729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1C729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1C729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1C729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A4A6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4D8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b="1" u="none" strike="noStrike" cap="none">
                          <a:solidFill>
                            <a:srgbClr val="00B4D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0.001</a:t>
                      </a:r>
                      <a:endParaRPr sz="1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1C729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1C729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1C729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1C729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A4A6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4D8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b="1" u="none" strike="noStrike" cap="none">
                          <a:solidFill>
                            <a:srgbClr val="00B4D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–</a:t>
                      </a:r>
                      <a:endParaRPr sz="1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1C729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1C729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1C729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1C729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A4A6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4D8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b="1" u="none" strike="noStrike" cap="none">
                          <a:solidFill>
                            <a:srgbClr val="00B4D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87.33%</a:t>
                      </a:r>
                      <a:endParaRPr sz="1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1C729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1C729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1C729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1C729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A4A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03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6EAF2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strike="noStrike" cap="none">
                          <a:solidFill>
                            <a:srgbClr val="D6EAF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AdamW</a:t>
                      </a:r>
                      <a:endParaRPr sz="1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1C729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1C729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1C729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1C729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6EAF2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strike="noStrike" cap="none">
                          <a:solidFill>
                            <a:srgbClr val="D6EAF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0.001</a:t>
                      </a:r>
                      <a:endParaRPr sz="1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1C729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1C729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1C729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1C729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6EAF2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strike="noStrike" cap="none">
                          <a:solidFill>
                            <a:srgbClr val="D6EAF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0.01</a:t>
                      </a:r>
                      <a:endParaRPr sz="1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1C729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1C729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1C729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1C729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6EAF2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strike="noStrike" cap="none">
                          <a:solidFill>
                            <a:srgbClr val="D6EAF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87.25%</a:t>
                      </a:r>
                      <a:endParaRPr sz="1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1C729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1C729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1C729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1C729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65A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03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6EAF2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strike="noStrike" cap="none">
                          <a:solidFill>
                            <a:srgbClr val="D6EAF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SGD + Momentum</a:t>
                      </a:r>
                      <a:endParaRPr sz="1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1C729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1C729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1C729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1C729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A4A6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6EAF2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strike="noStrike" cap="none">
                          <a:solidFill>
                            <a:srgbClr val="D6EAF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0.01</a:t>
                      </a:r>
                      <a:endParaRPr sz="1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1C729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1C729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1C729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1C729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A4A6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6EAF2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strike="noStrike" cap="none">
                          <a:solidFill>
                            <a:srgbClr val="D6EAF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–</a:t>
                      </a:r>
                      <a:endParaRPr sz="1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1C729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1C729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1C729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1C729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A4A6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6EAF2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strike="noStrike" cap="none">
                          <a:solidFill>
                            <a:srgbClr val="D6EAF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87.15%</a:t>
                      </a:r>
                      <a:endParaRPr sz="1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1C729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1C729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1C729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1C729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A4A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03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6EAF2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strike="noStrike" cap="none">
                          <a:solidFill>
                            <a:srgbClr val="D6EAF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SGD</a:t>
                      </a:r>
                      <a:endParaRPr sz="1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1C729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1C729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1C729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1C729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6EAF2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strike="noStrike" cap="none">
                          <a:solidFill>
                            <a:srgbClr val="D6EAF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0.01</a:t>
                      </a:r>
                      <a:endParaRPr sz="1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1C729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1C729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1C729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1C729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6EAF2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strike="noStrike" cap="none">
                          <a:solidFill>
                            <a:srgbClr val="D6EAF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–</a:t>
                      </a:r>
                      <a:endParaRPr sz="1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1C729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1C729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1C729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1C729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6EAF2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strike="noStrike" cap="none">
                          <a:solidFill>
                            <a:srgbClr val="D6EAF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85.42%</a:t>
                      </a:r>
                      <a:endParaRPr sz="1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1C729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1C729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1C729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1C729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65A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03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6EAF2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strike="noStrike" cap="none">
                          <a:solidFill>
                            <a:srgbClr val="D6EAF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SGD (låg lr)</a:t>
                      </a:r>
                      <a:endParaRPr sz="1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1C729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1C729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1C729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1C729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A4A6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6EAF2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strike="noStrike" cap="none">
                          <a:solidFill>
                            <a:srgbClr val="D6EAF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0.001</a:t>
                      </a:r>
                      <a:endParaRPr sz="1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1C729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1C729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1C729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1C729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A4A6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6EAF2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strike="noStrike" cap="none">
                          <a:solidFill>
                            <a:srgbClr val="D6EAF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–</a:t>
                      </a:r>
                      <a:endParaRPr sz="1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1C729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1C729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1C729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1C729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A4A6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6EAF2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strike="noStrike" cap="none">
                          <a:solidFill>
                            <a:srgbClr val="D6EAF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79.79%</a:t>
                      </a:r>
                      <a:endParaRPr sz="1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1C729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1C729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1C729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1C729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A4A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6FA"/>
        </a:solidFill>
        <a:effectLst/>
      </p:bgPr>
    </p:bg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e386580c25_0_5"/>
          <p:cNvSpPr/>
          <p:nvPr/>
        </p:nvSpPr>
        <p:spPr>
          <a:xfrm>
            <a:off x="457200" y="274320"/>
            <a:ext cx="8229600" cy="59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2800"/>
              <a:buFont typeface="Calibri"/>
              <a:buNone/>
            </a:pPr>
            <a:r>
              <a:rPr lang="en-US" sz="2800" b="1" i="0" u="none" strike="noStrike" cap="non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Träningskurvor – Validation Accuracy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g3e386580c25_0_5"/>
          <p:cNvSpPr/>
          <p:nvPr/>
        </p:nvSpPr>
        <p:spPr>
          <a:xfrm>
            <a:off x="457200" y="1005840"/>
            <a:ext cx="8229600" cy="3474600"/>
          </a:xfrm>
          <a:prstGeom prst="rect">
            <a:avLst/>
          </a:prstGeom>
          <a:solidFill>
            <a:srgbClr val="EAF4FA"/>
          </a:solidFill>
          <a:ln w="12700" cap="flat" cmpd="sng">
            <a:solidFill>
              <a:srgbClr val="1C729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g3e386580c25_0_5"/>
          <p:cNvSpPr/>
          <p:nvPr/>
        </p:nvSpPr>
        <p:spPr>
          <a:xfrm>
            <a:off x="457200" y="4663440"/>
            <a:ext cx="84126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Adam/AdamW: </a:t>
            </a:r>
            <a:r>
              <a:rPr lang="en-US" sz="1200" b="0" i="0" u="none" strike="noStrike" cap="non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kom igång snabbt men planade ut tidigt   </a:t>
            </a:r>
            <a:r>
              <a:rPr lang="en-US" sz="1200" b="1" i="0" u="none" strike="noStrike" cap="non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SGD: </a:t>
            </a:r>
            <a:r>
              <a:rPr lang="en-US" sz="1200" b="0" i="0" u="none" strike="noStrike" cap="non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långsam start men förbättrades stadigt genom alla 10 epochs</a:t>
            </a:r>
            <a:br>
              <a:rPr lang="en-US" sz="1200" b="0" i="0" u="none" strike="noStrike" cap="non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1" name="Google Shape;131;g3e386580c25_0_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28425" y="1091038"/>
            <a:ext cx="8093974" cy="33334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5A82"/>
        </a:solidFill>
        <a:effectLst/>
      </p:bgPr>
    </p:bg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7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libri"/>
              <a:buNone/>
            </a:pPr>
            <a:r>
              <a:rPr lang="en-US" sz="3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Overfitting &amp; Underfitting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7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DBFCD"/>
              </a:buClr>
              <a:buSzPts val="1300"/>
              <a:buFont typeface="Calibri"/>
              <a:buNone/>
            </a:pPr>
            <a:r>
              <a:rPr lang="en-US" sz="1300" b="0" i="1" u="none" strike="noStrike" cap="none">
                <a:solidFill>
                  <a:srgbClr val="9DBFCD"/>
                </a:solidFill>
                <a:latin typeface="Calibri"/>
                <a:ea typeface="Calibri"/>
                <a:cs typeface="Calibri"/>
                <a:sym typeface="Calibri"/>
              </a:rPr>
              <a:t>Adam-modellen tränad i 30 epochs för att tydliggöra mönstret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7"/>
          <p:cNvSpPr/>
          <p:nvPr/>
        </p:nvSpPr>
        <p:spPr>
          <a:xfrm>
            <a:off x="320040" y="1325880"/>
            <a:ext cx="2697480" cy="3337560"/>
          </a:xfrm>
          <a:prstGeom prst="rect">
            <a:avLst/>
          </a:prstGeom>
          <a:solidFill>
            <a:srgbClr val="0A4A6B"/>
          </a:solidFill>
          <a:ln w="12700" cap="flat" cmpd="sng">
            <a:solidFill>
              <a:srgbClr val="3498D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7"/>
          <p:cNvSpPr/>
          <p:nvPr/>
        </p:nvSpPr>
        <p:spPr>
          <a:xfrm>
            <a:off x="320040" y="1325880"/>
            <a:ext cx="2697480" cy="109728"/>
          </a:xfrm>
          <a:prstGeom prst="rect">
            <a:avLst/>
          </a:prstGeom>
          <a:solidFill>
            <a:srgbClr val="3498DB"/>
          </a:solidFill>
          <a:ln w="12700" cap="flat" cmpd="sng">
            <a:solidFill>
              <a:srgbClr val="3498D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7"/>
          <p:cNvSpPr/>
          <p:nvPr/>
        </p:nvSpPr>
        <p:spPr>
          <a:xfrm>
            <a:off x="429768" y="1481328"/>
            <a:ext cx="24688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DBFCD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9DBFCD"/>
                </a:solidFill>
                <a:latin typeface="Calibri"/>
                <a:ea typeface="Calibri"/>
                <a:cs typeface="Calibri"/>
                <a:sym typeface="Calibri"/>
              </a:rPr>
              <a:t>Epoch 1–5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7"/>
          <p:cNvSpPr/>
          <p:nvPr/>
        </p:nvSpPr>
        <p:spPr>
          <a:xfrm>
            <a:off x="429768" y="1810512"/>
            <a:ext cx="24688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98DB"/>
              </a:buClr>
              <a:buSzPts val="1500"/>
              <a:buFont typeface="Calibri"/>
              <a:buNone/>
            </a:pPr>
            <a:r>
              <a:rPr lang="en-US" sz="1500" b="1" i="0" u="none" strike="noStrike" cap="none">
                <a:solidFill>
                  <a:srgbClr val="3498DB"/>
                </a:solidFill>
                <a:latin typeface="Calibri"/>
                <a:ea typeface="Calibri"/>
                <a:cs typeface="Calibri"/>
                <a:sym typeface="Calibri"/>
              </a:rPr>
              <a:t>Underfitting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7"/>
          <p:cNvSpPr/>
          <p:nvPr/>
        </p:nvSpPr>
        <p:spPr>
          <a:xfrm>
            <a:off x="429768" y="2331720"/>
            <a:ext cx="2468880" cy="2103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6EAF2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D6EAF2"/>
                </a:solidFill>
                <a:latin typeface="Calibri"/>
                <a:ea typeface="Calibri"/>
                <a:cs typeface="Calibri"/>
                <a:sym typeface="Calibri"/>
              </a:rPr>
              <a:t>Båda kurvorna förbättras snabbt. Modellen håller på att lära sig grundläggande mönster.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7"/>
          <p:cNvSpPr/>
          <p:nvPr/>
        </p:nvSpPr>
        <p:spPr>
          <a:xfrm>
            <a:off x="3200400" y="1325880"/>
            <a:ext cx="2697480" cy="3337560"/>
          </a:xfrm>
          <a:prstGeom prst="rect">
            <a:avLst/>
          </a:prstGeom>
          <a:solidFill>
            <a:srgbClr val="0A4A6B"/>
          </a:solidFill>
          <a:ln w="12700" cap="flat" cmpd="sng">
            <a:solidFill>
              <a:srgbClr val="27AE6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7"/>
          <p:cNvSpPr/>
          <p:nvPr/>
        </p:nvSpPr>
        <p:spPr>
          <a:xfrm>
            <a:off x="3200400" y="1325880"/>
            <a:ext cx="2697480" cy="109728"/>
          </a:xfrm>
          <a:prstGeom prst="rect">
            <a:avLst/>
          </a:prstGeom>
          <a:solidFill>
            <a:srgbClr val="27AE60"/>
          </a:solidFill>
          <a:ln w="12700" cap="flat" cmpd="sng">
            <a:solidFill>
              <a:srgbClr val="27AE6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7"/>
          <p:cNvSpPr/>
          <p:nvPr/>
        </p:nvSpPr>
        <p:spPr>
          <a:xfrm>
            <a:off x="3310128" y="1481328"/>
            <a:ext cx="24688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DBFCD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9DBFCD"/>
                </a:solidFill>
                <a:latin typeface="Calibri"/>
                <a:ea typeface="Calibri"/>
                <a:cs typeface="Calibri"/>
                <a:sym typeface="Calibri"/>
              </a:rPr>
              <a:t>Epoch 5–6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7"/>
          <p:cNvSpPr/>
          <p:nvPr/>
        </p:nvSpPr>
        <p:spPr>
          <a:xfrm>
            <a:off x="3310128" y="1810512"/>
            <a:ext cx="24688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AE60"/>
              </a:buClr>
              <a:buSzPts val="1500"/>
              <a:buFont typeface="Calibri"/>
              <a:buNone/>
            </a:pPr>
            <a:r>
              <a:rPr lang="en-US" sz="1500" b="1" i="0" u="none" strike="noStrike" cap="none">
                <a:solidFill>
                  <a:srgbClr val="27AE60"/>
                </a:solidFill>
                <a:latin typeface="Calibri"/>
                <a:ea typeface="Calibri"/>
                <a:cs typeface="Calibri"/>
                <a:sym typeface="Calibri"/>
              </a:rPr>
              <a:t>God generalisering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7"/>
          <p:cNvSpPr/>
          <p:nvPr/>
        </p:nvSpPr>
        <p:spPr>
          <a:xfrm>
            <a:off x="3310128" y="2331720"/>
            <a:ext cx="2468880" cy="2103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6EAF2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D6EAF2"/>
                </a:solidFill>
                <a:latin typeface="Calibri"/>
                <a:ea typeface="Calibri"/>
                <a:cs typeface="Calibri"/>
                <a:sym typeface="Calibri"/>
              </a:rPr>
              <a:t>Träning och validering ligger nära varandra. Modellen generaliseringsförmåga är som bäst.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7"/>
          <p:cNvSpPr/>
          <p:nvPr/>
        </p:nvSpPr>
        <p:spPr>
          <a:xfrm>
            <a:off x="6080760" y="1325880"/>
            <a:ext cx="2697480" cy="3337560"/>
          </a:xfrm>
          <a:prstGeom prst="rect">
            <a:avLst/>
          </a:prstGeom>
          <a:solidFill>
            <a:srgbClr val="0A4A6B"/>
          </a:solidFill>
          <a:ln w="12700" cap="flat" cmpd="sng">
            <a:solidFill>
              <a:srgbClr val="E74C3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7"/>
          <p:cNvSpPr/>
          <p:nvPr/>
        </p:nvSpPr>
        <p:spPr>
          <a:xfrm>
            <a:off x="6080760" y="1325880"/>
            <a:ext cx="2697480" cy="109728"/>
          </a:xfrm>
          <a:prstGeom prst="rect">
            <a:avLst/>
          </a:prstGeom>
          <a:solidFill>
            <a:srgbClr val="E74C3C"/>
          </a:solidFill>
          <a:ln w="12700" cap="flat" cmpd="sng">
            <a:solidFill>
              <a:srgbClr val="E74C3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7"/>
          <p:cNvSpPr/>
          <p:nvPr/>
        </p:nvSpPr>
        <p:spPr>
          <a:xfrm>
            <a:off x="6190488" y="1481328"/>
            <a:ext cx="24688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DBFCD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9DBFCD"/>
                </a:solidFill>
                <a:latin typeface="Calibri"/>
                <a:ea typeface="Calibri"/>
                <a:cs typeface="Calibri"/>
                <a:sym typeface="Calibri"/>
              </a:rPr>
              <a:t>Efter epoch 6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7"/>
          <p:cNvSpPr/>
          <p:nvPr/>
        </p:nvSpPr>
        <p:spPr>
          <a:xfrm>
            <a:off x="6190488" y="1810512"/>
            <a:ext cx="24688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4C3C"/>
              </a:buClr>
              <a:buSzPts val="1500"/>
              <a:buFont typeface="Calibri"/>
              <a:buNone/>
            </a:pPr>
            <a:r>
              <a:rPr lang="en-US" sz="1500" b="1" i="0" u="none" strike="noStrike" cap="none">
                <a:solidFill>
                  <a:srgbClr val="E74C3C"/>
                </a:solidFill>
                <a:latin typeface="Calibri"/>
                <a:ea typeface="Calibri"/>
                <a:cs typeface="Calibri"/>
                <a:sym typeface="Calibri"/>
              </a:rPr>
              <a:t>Overfitting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7"/>
          <p:cNvSpPr/>
          <p:nvPr/>
        </p:nvSpPr>
        <p:spPr>
          <a:xfrm>
            <a:off x="6190488" y="2331720"/>
            <a:ext cx="2468880" cy="2103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6EAF2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D6EAF2"/>
                </a:solidFill>
                <a:latin typeface="Calibri"/>
                <a:ea typeface="Calibri"/>
                <a:cs typeface="Calibri"/>
                <a:sym typeface="Calibri"/>
              </a:rPr>
              <a:t>Träningsaccuracy stiger men valideringsaccuracy planar ut. Modellen memorerar träningsdatan.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7"/>
          <p:cNvSpPr/>
          <p:nvPr/>
        </p:nvSpPr>
        <p:spPr>
          <a:xfrm>
            <a:off x="457200" y="475488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DBFCD"/>
              </a:buClr>
              <a:buSzPts val="1200"/>
              <a:buFont typeface="Calibri"/>
              <a:buNone/>
            </a:pPr>
            <a:r>
              <a:rPr lang="en-US" sz="1200" b="0" i="1" u="none" strike="noStrike" cap="none">
                <a:solidFill>
                  <a:srgbClr val="9DBFCD"/>
                </a:solidFill>
                <a:latin typeface="Calibri"/>
                <a:ea typeface="Calibri"/>
                <a:cs typeface="Calibri"/>
                <a:sym typeface="Calibri"/>
              </a:rPr>
              <a:t>Dropout(0.2) hjälpte begränsa overfitting – gapet mellan kurvorna förblev relativt litet.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6FA"/>
        </a:solidFill>
        <a:effectLst/>
      </p:bgPr>
    </p:bg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6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2800"/>
              <a:buFont typeface="Calibri"/>
              <a:buNone/>
            </a:pPr>
            <a:r>
              <a:rPr lang="en-US" sz="2800" b="1" i="0" u="none" strike="noStrike" cap="non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Overfitting - underfitting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6"/>
          <p:cNvSpPr/>
          <p:nvPr/>
        </p:nvSpPr>
        <p:spPr>
          <a:xfrm>
            <a:off x="457200" y="1005840"/>
            <a:ext cx="8229600" cy="3474720"/>
          </a:xfrm>
          <a:prstGeom prst="rect">
            <a:avLst/>
          </a:prstGeom>
          <a:solidFill>
            <a:srgbClr val="EAF4FA"/>
          </a:solidFill>
          <a:ln w="12700" cap="flat" cmpd="sng">
            <a:solidFill>
              <a:srgbClr val="1C729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6"/>
          <p:cNvSpPr/>
          <p:nvPr/>
        </p:nvSpPr>
        <p:spPr>
          <a:xfrm>
            <a:off x="457200" y="4663440"/>
            <a:ext cx="84124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Overfitting synligt från cirka epoch 6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27659" y="1225800"/>
            <a:ext cx="3871424" cy="2869551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645060" y="1225800"/>
            <a:ext cx="3969449" cy="2869549"/>
          </a:xfrm>
          <a:prstGeom prst="rect">
            <a:avLst/>
          </a:prstGeom>
          <a:solidFill>
            <a:srgbClr val="EAF4FA"/>
          </a:solidFill>
          <a:ln w="12700" cap="flat" cmpd="sng">
            <a:solidFill>
              <a:srgbClr val="1C7293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6FA"/>
        </a:solidFill>
        <a:effectLst/>
      </p:bgPr>
    </p:bg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8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3200"/>
              <a:buFont typeface="Calibri"/>
              <a:buNone/>
            </a:pPr>
            <a:r>
              <a:rPr lang="en-US" sz="3200" b="1" i="0" u="none" strike="noStrike" cap="non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Dense vs CNN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8"/>
          <p:cNvSpPr/>
          <p:nvPr/>
        </p:nvSpPr>
        <p:spPr>
          <a:xfrm>
            <a:off x="457200" y="1005840"/>
            <a:ext cx="4114800" cy="3657600"/>
          </a:xfrm>
          <a:prstGeom prst="rect">
            <a:avLst/>
          </a:prstGeom>
          <a:solidFill>
            <a:srgbClr val="065A82"/>
          </a:solidFill>
          <a:ln w="12700" cap="flat" cmpd="sng">
            <a:solidFill>
              <a:srgbClr val="1C7293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8"/>
          <p:cNvSpPr/>
          <p:nvPr/>
        </p:nvSpPr>
        <p:spPr>
          <a:xfrm>
            <a:off x="457200" y="1005840"/>
            <a:ext cx="4114800" cy="109728"/>
          </a:xfrm>
          <a:prstGeom prst="rect">
            <a:avLst/>
          </a:prstGeom>
          <a:solidFill>
            <a:srgbClr val="1C7293"/>
          </a:solidFill>
          <a:ln w="12700" cap="flat" cmpd="sng">
            <a:solidFill>
              <a:srgbClr val="1C729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8"/>
          <p:cNvSpPr/>
          <p:nvPr/>
        </p:nvSpPr>
        <p:spPr>
          <a:xfrm>
            <a:off x="640080" y="1170432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Dense-modell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8"/>
          <p:cNvSpPr/>
          <p:nvPr/>
        </p:nvSpPr>
        <p:spPr>
          <a:xfrm>
            <a:off x="3291840" y="1170432"/>
            <a:ext cx="10972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DBFCD"/>
              </a:buClr>
              <a:buSzPts val="2000"/>
              <a:buFont typeface="Calibri"/>
              <a:buNone/>
            </a:pPr>
            <a:r>
              <a:rPr lang="en-US" sz="2000" b="1" i="0" u="none" strike="noStrike" cap="none">
                <a:solidFill>
                  <a:srgbClr val="9DBFCD"/>
                </a:solidFill>
                <a:latin typeface="Calibri"/>
                <a:ea typeface="Calibri"/>
                <a:cs typeface="Calibri"/>
                <a:sym typeface="Calibri"/>
              </a:rPr>
              <a:t>~87%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8"/>
          <p:cNvSpPr/>
          <p:nvPr/>
        </p:nvSpPr>
        <p:spPr>
          <a:xfrm>
            <a:off x="640080" y="1783080"/>
            <a:ext cx="374904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6EAF2"/>
              </a:buClr>
              <a:buSzPts val="1300"/>
              <a:buFont typeface="Calibri"/>
              <a:buChar char="•"/>
            </a:pPr>
            <a:r>
              <a:rPr lang="en-US" sz="1300" b="0" i="0" u="none" strike="noStrike" cap="none">
                <a:solidFill>
                  <a:srgbClr val="D6EAF2"/>
                </a:solidFill>
                <a:latin typeface="Calibri"/>
                <a:ea typeface="Calibri"/>
                <a:cs typeface="Calibri"/>
                <a:sym typeface="Calibri"/>
              </a:rPr>
              <a:t>Behandlar varje pixel oberoende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8"/>
          <p:cNvSpPr/>
          <p:nvPr/>
        </p:nvSpPr>
        <p:spPr>
          <a:xfrm>
            <a:off x="640080" y="2423160"/>
            <a:ext cx="374904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6EAF2"/>
              </a:buClr>
              <a:buSzPts val="1300"/>
              <a:buFont typeface="Calibri"/>
              <a:buChar char="•"/>
            </a:pPr>
            <a:r>
              <a:rPr lang="en-US" sz="1300" b="0" i="0" u="none" strike="noStrike" cap="none">
                <a:solidFill>
                  <a:srgbClr val="D6EAF2"/>
                </a:solidFill>
                <a:latin typeface="Calibri"/>
                <a:ea typeface="Calibri"/>
                <a:cs typeface="Calibri"/>
                <a:sym typeface="Calibri"/>
              </a:rPr>
              <a:t>Förstår inte bildens struktur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8"/>
          <p:cNvSpPr/>
          <p:nvPr/>
        </p:nvSpPr>
        <p:spPr>
          <a:xfrm>
            <a:off x="640080" y="3063240"/>
            <a:ext cx="374904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6EAF2"/>
              </a:buClr>
              <a:buSzPts val="1300"/>
              <a:buFont typeface="Calibri"/>
              <a:buChar char="•"/>
            </a:pPr>
            <a:r>
              <a:rPr lang="en-US" sz="1300" b="0" i="0" u="none" strike="noStrike" cap="none">
                <a:solidFill>
                  <a:srgbClr val="D6EAF2"/>
                </a:solidFill>
                <a:latin typeface="Calibri"/>
                <a:ea typeface="Calibri"/>
                <a:cs typeface="Calibri"/>
                <a:sym typeface="Calibri"/>
              </a:rPr>
              <a:t>Enklare att förstå och förklara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8"/>
          <p:cNvSpPr/>
          <p:nvPr/>
        </p:nvSpPr>
        <p:spPr>
          <a:xfrm>
            <a:off x="640080" y="3703320"/>
            <a:ext cx="374904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6EAF2"/>
              </a:buClr>
              <a:buSzPts val="1300"/>
              <a:buFont typeface="Calibri"/>
              <a:buChar char="•"/>
            </a:pPr>
            <a:r>
              <a:rPr lang="en-US" sz="1300" b="0" i="0" u="none" strike="noStrike" cap="none">
                <a:solidFill>
                  <a:srgbClr val="D6EAF2"/>
                </a:solidFill>
                <a:latin typeface="Calibri"/>
                <a:ea typeface="Calibri"/>
                <a:cs typeface="Calibri"/>
                <a:sym typeface="Calibri"/>
              </a:rPr>
              <a:t>Bra startpunkt för jämförelse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8"/>
          <p:cNvSpPr/>
          <p:nvPr/>
        </p:nvSpPr>
        <p:spPr>
          <a:xfrm>
            <a:off x="4937760" y="1005840"/>
            <a:ext cx="4114800" cy="3657600"/>
          </a:xfrm>
          <a:prstGeom prst="rect">
            <a:avLst/>
          </a:prstGeom>
          <a:solidFill>
            <a:srgbClr val="065A82"/>
          </a:solidFill>
          <a:ln w="12700" cap="flat" cmpd="sng">
            <a:solidFill>
              <a:srgbClr val="1C7293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8"/>
          <p:cNvSpPr/>
          <p:nvPr/>
        </p:nvSpPr>
        <p:spPr>
          <a:xfrm>
            <a:off x="4937760" y="1005840"/>
            <a:ext cx="4114800" cy="109728"/>
          </a:xfrm>
          <a:prstGeom prst="rect">
            <a:avLst/>
          </a:prstGeom>
          <a:solidFill>
            <a:srgbClr val="00B4D8"/>
          </a:solidFill>
          <a:ln w="12700" cap="flat" cmpd="sng">
            <a:solidFill>
              <a:srgbClr val="00B4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8"/>
          <p:cNvSpPr/>
          <p:nvPr/>
        </p:nvSpPr>
        <p:spPr>
          <a:xfrm>
            <a:off x="5120640" y="1170432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CNN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8"/>
          <p:cNvSpPr/>
          <p:nvPr/>
        </p:nvSpPr>
        <p:spPr>
          <a:xfrm>
            <a:off x="7772400" y="1170432"/>
            <a:ext cx="10972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2000"/>
              <a:buFont typeface="Calibri"/>
              <a:buNone/>
            </a:pPr>
            <a:r>
              <a:rPr lang="en-US" sz="2000" b="1" i="0" u="none" strike="noStrike" cap="non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~89%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8"/>
          <p:cNvSpPr/>
          <p:nvPr/>
        </p:nvSpPr>
        <p:spPr>
          <a:xfrm>
            <a:off x="5120640" y="1783080"/>
            <a:ext cx="374904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6EAF2"/>
              </a:buClr>
              <a:buSzPts val="1300"/>
              <a:buFont typeface="Calibri"/>
              <a:buChar char="•"/>
            </a:pPr>
            <a:r>
              <a:rPr lang="en-US" sz="1300" b="0" i="0" u="none" strike="noStrike" cap="none">
                <a:solidFill>
                  <a:srgbClr val="D6EAF2"/>
                </a:solidFill>
                <a:latin typeface="Calibri"/>
                <a:ea typeface="Calibri"/>
                <a:cs typeface="Calibri"/>
                <a:sym typeface="Calibri"/>
              </a:rPr>
              <a:t>Designad specifikt för bilder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8"/>
          <p:cNvSpPr/>
          <p:nvPr/>
        </p:nvSpPr>
        <p:spPr>
          <a:xfrm>
            <a:off x="5120640" y="2423160"/>
            <a:ext cx="374904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6EAF2"/>
              </a:buClr>
              <a:buSzPts val="1300"/>
              <a:buFont typeface="Calibri"/>
              <a:buChar char="•"/>
            </a:pPr>
            <a:r>
              <a:rPr lang="en-US" sz="1300" b="0" i="0" u="none" strike="noStrike" cap="none">
                <a:solidFill>
                  <a:srgbClr val="D6EAF2"/>
                </a:solidFill>
                <a:latin typeface="Calibri"/>
                <a:ea typeface="Calibri"/>
                <a:cs typeface="Calibri"/>
                <a:sym typeface="Calibri"/>
              </a:rPr>
              <a:t>Ser lokala mönster – kanter, former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8"/>
          <p:cNvSpPr/>
          <p:nvPr/>
        </p:nvSpPr>
        <p:spPr>
          <a:xfrm>
            <a:off x="5120640" y="3063240"/>
            <a:ext cx="374904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6EAF2"/>
              </a:buClr>
              <a:buSzPts val="1300"/>
              <a:buFont typeface="Calibri"/>
              <a:buChar char="•"/>
            </a:pPr>
            <a:r>
              <a:rPr lang="en-US" sz="1300" b="0" i="0" u="none" strike="noStrike" cap="none">
                <a:solidFill>
                  <a:srgbClr val="D6EAF2"/>
                </a:solidFill>
                <a:latin typeface="Calibri"/>
                <a:ea typeface="Calibri"/>
                <a:cs typeface="Calibri"/>
                <a:sym typeface="Calibri"/>
              </a:rPr>
              <a:t>Behöver färre parametrar för bilder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8"/>
          <p:cNvSpPr/>
          <p:nvPr/>
        </p:nvSpPr>
        <p:spPr>
          <a:xfrm>
            <a:off x="5120640" y="3703320"/>
            <a:ext cx="374904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6EAF2"/>
              </a:buClr>
              <a:buSzPts val="1300"/>
              <a:buFont typeface="Calibri"/>
              <a:buChar char="•"/>
            </a:pPr>
            <a:r>
              <a:rPr lang="en-US" sz="1300" b="0" i="0" u="none" strike="noStrike" cap="none">
                <a:solidFill>
                  <a:srgbClr val="D6EAF2"/>
                </a:solidFill>
                <a:latin typeface="Calibri"/>
                <a:ea typeface="Calibri"/>
                <a:cs typeface="Calibri"/>
                <a:sym typeface="Calibri"/>
              </a:rPr>
              <a:t>Bättre generalisering på bilddata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5A82"/>
        </a:solidFill>
        <a:effectLst/>
      </p:bgPr>
    </p:bg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9"/>
          <p:cNvSpPr/>
          <p:nvPr/>
        </p:nvSpPr>
        <p:spPr>
          <a:xfrm>
            <a:off x="6400800" y="2286000"/>
            <a:ext cx="3657600" cy="3657600"/>
          </a:xfrm>
          <a:prstGeom prst="ellipse">
            <a:avLst/>
          </a:prstGeom>
          <a:solidFill>
            <a:srgbClr val="1C7293">
              <a:alpha val="20000"/>
            </a:srgbClr>
          </a:solidFill>
          <a:ln w="12700" cap="flat" cmpd="sng">
            <a:solidFill>
              <a:srgbClr val="1C7293">
                <a:alpha val="2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9"/>
          <p:cNvSpPr/>
          <p:nvPr/>
        </p:nvSpPr>
        <p:spPr>
          <a:xfrm>
            <a:off x="457200" y="274320"/>
            <a:ext cx="64008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libri"/>
              <a:buNone/>
            </a:pPr>
            <a:r>
              <a:rPr lang="en-US" sz="3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Slutsatser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9"/>
          <p:cNvSpPr/>
          <p:nvPr/>
        </p:nvSpPr>
        <p:spPr>
          <a:xfrm>
            <a:off x="457200" y="1005840"/>
            <a:ext cx="384048" cy="384048"/>
          </a:xfrm>
          <a:prstGeom prst="ellipse">
            <a:avLst/>
          </a:prstGeom>
          <a:solidFill>
            <a:srgbClr val="00B4D8"/>
          </a:solidFill>
          <a:ln w="12700" cap="flat" cmpd="sng">
            <a:solidFill>
              <a:srgbClr val="00B4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9"/>
          <p:cNvSpPr/>
          <p:nvPr/>
        </p:nvSpPr>
        <p:spPr>
          <a:xfrm>
            <a:off x="457200" y="1005840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9"/>
          <p:cNvSpPr/>
          <p:nvPr/>
        </p:nvSpPr>
        <p:spPr>
          <a:xfrm>
            <a:off x="1005840" y="1005840"/>
            <a:ext cx="621792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6EAF2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D6EAF2"/>
                </a:solidFill>
                <a:latin typeface="Calibri"/>
                <a:ea typeface="Calibri"/>
                <a:cs typeface="Calibri"/>
                <a:sym typeface="Calibri"/>
              </a:rPr>
              <a:t>Adam är ett tryggt defaultval 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9"/>
          <p:cNvSpPr/>
          <p:nvPr/>
        </p:nvSpPr>
        <p:spPr>
          <a:xfrm>
            <a:off x="457200" y="1810512"/>
            <a:ext cx="384048" cy="384048"/>
          </a:xfrm>
          <a:prstGeom prst="ellipse">
            <a:avLst/>
          </a:prstGeom>
          <a:solidFill>
            <a:srgbClr val="00B4D8"/>
          </a:solidFill>
          <a:ln w="12700" cap="flat" cmpd="sng">
            <a:solidFill>
              <a:srgbClr val="00B4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9"/>
          <p:cNvSpPr/>
          <p:nvPr/>
        </p:nvSpPr>
        <p:spPr>
          <a:xfrm>
            <a:off x="457200" y="1810512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9"/>
          <p:cNvSpPr/>
          <p:nvPr/>
        </p:nvSpPr>
        <p:spPr>
          <a:xfrm>
            <a:off x="1005840" y="1810512"/>
            <a:ext cx="621792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6EAF2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D6EAF2"/>
                </a:solidFill>
                <a:latin typeface="Calibri"/>
                <a:ea typeface="Calibri"/>
                <a:cs typeface="Calibri"/>
                <a:sym typeface="Calibri"/>
              </a:rPr>
              <a:t>SGD + Momentum kan matcha Adam men behöver fler epochs och noggrannare hyperparametrar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9"/>
          <p:cNvSpPr/>
          <p:nvPr/>
        </p:nvSpPr>
        <p:spPr>
          <a:xfrm>
            <a:off x="457200" y="2615184"/>
            <a:ext cx="384048" cy="384048"/>
          </a:xfrm>
          <a:prstGeom prst="ellipse">
            <a:avLst/>
          </a:prstGeom>
          <a:solidFill>
            <a:srgbClr val="00B4D8"/>
          </a:solidFill>
          <a:ln w="12700" cap="flat" cmpd="sng">
            <a:solidFill>
              <a:srgbClr val="00B4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9"/>
          <p:cNvSpPr/>
          <p:nvPr/>
        </p:nvSpPr>
        <p:spPr>
          <a:xfrm>
            <a:off x="457200" y="2615184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9"/>
          <p:cNvSpPr/>
          <p:nvPr/>
        </p:nvSpPr>
        <p:spPr>
          <a:xfrm>
            <a:off x="1005840" y="2615184"/>
            <a:ext cx="621792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6EAF2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D6EAF2"/>
                </a:solidFill>
                <a:latin typeface="Calibri"/>
                <a:ea typeface="Calibri"/>
                <a:cs typeface="Calibri"/>
                <a:sym typeface="Calibri"/>
              </a:rPr>
              <a:t>Learning rate har stor påverkann. Låg lr (0.001 SGD) gav nästan 8% sämre accuracy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9"/>
          <p:cNvSpPr/>
          <p:nvPr/>
        </p:nvSpPr>
        <p:spPr>
          <a:xfrm>
            <a:off x="457200" y="3419856"/>
            <a:ext cx="384048" cy="384048"/>
          </a:xfrm>
          <a:prstGeom prst="ellipse">
            <a:avLst/>
          </a:prstGeom>
          <a:solidFill>
            <a:srgbClr val="00B4D8"/>
          </a:solidFill>
          <a:ln w="12700" cap="flat" cmpd="sng">
            <a:solidFill>
              <a:srgbClr val="00B4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9"/>
          <p:cNvSpPr/>
          <p:nvPr/>
        </p:nvSpPr>
        <p:spPr>
          <a:xfrm>
            <a:off x="457200" y="3419856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9"/>
          <p:cNvSpPr/>
          <p:nvPr/>
        </p:nvSpPr>
        <p:spPr>
          <a:xfrm>
            <a:off x="1005840" y="3419856"/>
            <a:ext cx="621792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6EAF2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D6EAF2"/>
                </a:solidFill>
                <a:latin typeface="Calibri"/>
                <a:ea typeface="Calibri"/>
                <a:cs typeface="Calibri"/>
                <a:sym typeface="Calibri"/>
              </a:rPr>
              <a:t>Fördelen med AdamW över Adam syns tydligare på större modeller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9"/>
          <p:cNvSpPr/>
          <p:nvPr/>
        </p:nvSpPr>
        <p:spPr>
          <a:xfrm>
            <a:off x="457200" y="4224528"/>
            <a:ext cx="384048" cy="384048"/>
          </a:xfrm>
          <a:prstGeom prst="ellipse">
            <a:avLst/>
          </a:prstGeom>
          <a:solidFill>
            <a:srgbClr val="00B4D8"/>
          </a:solidFill>
          <a:ln w="12700" cap="flat" cmpd="sng">
            <a:solidFill>
              <a:srgbClr val="00B4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9"/>
          <p:cNvSpPr/>
          <p:nvPr/>
        </p:nvSpPr>
        <p:spPr>
          <a:xfrm>
            <a:off x="457200" y="4224528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9"/>
          <p:cNvSpPr/>
          <p:nvPr/>
        </p:nvSpPr>
        <p:spPr>
          <a:xfrm>
            <a:off x="1005840" y="4224528"/>
            <a:ext cx="621792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6EAF2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D6EAF2"/>
                </a:solidFill>
                <a:latin typeface="Calibri"/>
                <a:ea typeface="Calibri"/>
                <a:cs typeface="Calibri"/>
                <a:sym typeface="Calibri"/>
              </a:rPr>
              <a:t>CNN (~89%) presterade bättre än Dense (~87%) på vår bilddata. Båda visade overfitting från cirka epoch 6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(16:9)</PresentationFormat>
  <Slides>11</Slides>
  <Notes>11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PptxGenJS</dc:creator>
  <cp:revision>10</cp:revision>
  <dcterms:created xsi:type="dcterms:W3CDTF">2026-05-20T12:56:19Z</dcterms:created>
  <dcterms:modified xsi:type="dcterms:W3CDTF">2026-05-26T06:11:20Z</dcterms:modified>
</cp:coreProperties>
</file>